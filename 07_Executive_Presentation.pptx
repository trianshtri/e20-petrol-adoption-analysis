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/ Rate (%)</c:v>
                </c:pt>
              </c:strCache>
            </c:strRef>
          </c:tx>
          <c:spPr>
            <a:solidFill>
              <a:srgbClr val="1367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Aware E20 Exists</c:v>
                  </c:pt>
                  <c:pt idx="1">
                    <c:v>Can Explain E20 Correctly</c:v>
                  </c:pt>
                  <c:pt idx="2">
                    <c:v>Understands Compatibility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34</c:v>
                </c:pt>
                <c:pt idx="2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Respondents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Trust (1-5)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OEM</c:v>
                  </c:pt>
                  <c:pt idx="1">
                    <c:v>Government</c:v>
                  </c:pt>
                  <c:pt idx="2">
                    <c:v>Dealer / Pump</c:v>
                  </c:pt>
                  <c:pt idx="3">
                    <c:v>Social Media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3.1</c:v>
                </c:pt>
                <c:pt idx="2">
                  <c:v>2.8</c:v>
                </c:pt>
                <c:pt idx="3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Mean Trust Score (1-5)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 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</c:dPt>
          <c:dPt>
            <c:idx val="2"/>
            <c:bubble3D val="0"/>
            <c:spPr>
              <a:solidFill>
                <a:srgbClr val="13678A"/>
              </a:solidFill>
              <a:effectLst/>
            </c:spPr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Confident Adopter</c:v>
                </c:pt>
                <c:pt idx="1">
                  <c:v>Undecided Middle</c:v>
                </c:pt>
                <c:pt idx="2">
                  <c:v>Uninformed Majority</c:v>
                </c:pt>
                <c:pt idx="3">
                  <c:v>Skeptical Traditionalist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37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3678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BUSINESS ANALYTICS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in India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Consulting Diagnostic on Consumer Trust, Adoption Drivers, and the Path to Accelerated E20 Uptake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Business Analytics &amp; Strategy Team  |  Engagement Type: Market Diagnostic &amp; Adoption Roadmap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4592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2212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712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871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29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35295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7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4187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Roadmap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5046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5504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&amp; Ask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accelerated its E20 rollout by 5 years — adoption trust hasn't caught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moved fast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target moved from 2030 to 2025, compressing the communication runway.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uneven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is broad, but understanding and confidence lag sharply behind.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7F9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OMCs, OEMs, and policymakers each hold partial data — no single diagnostic exists.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is fundamentally a trust and communication gap — not primarily a fuel-technology gap.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awareness, adoption &amp; sentiment across segments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root causes of resistance / hesitancy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actionable consumer personas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commercial &amp; reputational cost of low trust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KPI dashboards + prioritized 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922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2011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city tiers: Metro, Tier-2, Tier-3, Rural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 &amp; 4W petrol vehicles only (diesel/CNG/EV excluded)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survey responses + 30+ interviews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Excel → SQL → Python → Power BI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refinery R&amp;D, legal drafting, national census-level sampling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mixed-methods approach combining breadth and 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450-respondent stratified survey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 questions, 4 city tiers)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13678A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interviews: consumers,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dealers, pump attendants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docs, OEM bulletins,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case studies (Brazil, US)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64040" y="20116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13678A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4692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Python (stats, ML)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450 responses → ±4.6% margin of error at 95% confidence (p=0.5, conservative)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1: The Awareness Illusion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know E20 exists — most don't understand what it does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7F9FB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4688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reach problem solved, but a depth problem unaddressed.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Dealer-level explanation (verbal) correlates with materially higher trust scores.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Signage alone is not converting awareness into confidence.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2: Where Trust Breaks 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are the most trusted voice — government and dealer trust lag behind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7F9FB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4688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should co-brand E20 compatibility messaging with OMCs.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messaging alone is insufficient to close the trust gap.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is the weakest link and the fastest misinformation vector.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data-driven personas emerge from clustering (K-Means, n=8 features)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783080"/>
            <a:ext cx="164592" cy="822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Undecided Middle (37%)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Highest-ROI target — moved by clear, dealer-delivered explanation.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743200"/>
            <a:ext cx="164592" cy="8229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Adopter (28%)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converted — advocate/reference segment.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703320"/>
            <a:ext cx="164592" cy="82296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Majority (20%)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basic awareness-to-understanding push.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4663440"/>
            <a:ext cx="164592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Traditionalist (15%)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vehicles, high concern — needs technical proof, not messaging.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driver is communication infrastructure, not fuel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Attendants under-trained; incentives tied to volume, not education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057400"/>
            <a:ext cx="411480" cy="4114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point-of-sale script; complaints not triaged by real vs. perceived issue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9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2057400"/>
            <a:ext cx="4114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Signage-only disclosure; no joint OEM–OMC messaging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9F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8320" y="2057400"/>
            <a:ext cx="411480" cy="411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30175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(smaller) compatibility variance in pre-2023 fleet gets generalized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initiatives, sequenced by impact and speed to implement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dealer 'explain E20' script + certification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49840" y="16459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58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OEM–OMC vehicle compatibility lookup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149840" y="2304288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23042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169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91693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Dispenser-level labeling upgrade (not just signage)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49840" y="2962656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296265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7530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57530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digital campaign for the Undecided Middle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49840" y="3621024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E8449"/>
          </a:solidFill>
          <a:ln/>
        </p:spPr>
      </p:sp>
      <p:sp>
        <p:nvSpPr>
          <p:cNvPr id="23" name="Text 21"/>
          <p:cNvSpPr/>
          <p:nvPr/>
        </p:nvSpPr>
        <p:spPr>
          <a:xfrm>
            <a:off x="10149840" y="36210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336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336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2336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incentives tied to trust/complaint metrics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49840" y="4279392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4279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92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892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complaint triage dashboard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149840" y="4937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49840" y="4937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over 12+ months, quick wins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606040" cy="73152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834640"/>
            <a:ext cx="228600" cy="228600"/>
          </a:xfrm>
          <a:prstGeom prst="ellipse">
            <a:avLst/>
          </a:prstGeom>
          <a:solidFill>
            <a:srgbClr val="1367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 dashboard; pilot dealer training (2 cities)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017520"/>
            <a:ext cx="260604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834640"/>
            <a:ext cx="228600" cy="228600"/>
          </a:xfrm>
          <a:prstGeom prst="ellipse">
            <a:avLst/>
          </a:prstGeom>
          <a:solidFill>
            <a:srgbClr val="F0A5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dealer training rollout; digital campaign launch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260604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2834640"/>
            <a:ext cx="228600" cy="228600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OEM–OMC compatibility tool; national labeling rollout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3017520"/>
            <a:ext cx="260604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78440" y="2834640"/>
            <a:ext cx="228600" cy="2286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Scrappage/incentive bundling; continuous KPI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— Cost vs. Benefit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planning figures; final model to be built on actual OMC cost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6692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Cost (₹ Cr)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0" y="1737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408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Dealer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408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3408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trust conversion, lower complaint-handling cost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64240" cy="5669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44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Compatibility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944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deflection of compatibility queries from call centers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47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Digital Campaign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35478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5478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Highest-ROI: est. 8–12% national adoption uplift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11064240" cy="5669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51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Triage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1513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1513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misinformation spirals; protects brand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Petrol Adoption — Market Research &amp; Business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3678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two quick wins now.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R6 (complaint triage dashboard) and R1 pilot (2-city dealer training) for immediate funding — combined cost &lt;₹3 Cr, deployable in 90 days.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 1 results to build the business case for national R1/R4 rollout.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3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diagnostic quarterly via the Power BI suite to track the Undecided Middle conversion.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2026-07-17T04:55:25Z</dcterms:created>
  <dcterms:modified xsi:type="dcterms:W3CDTF">2026-07-17T04:55:25Z</dcterms:modified>
</cp:coreProperties>
</file>